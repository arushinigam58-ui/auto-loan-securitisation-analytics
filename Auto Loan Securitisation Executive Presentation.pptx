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6193DB0-2A17-4A32-B0E8-D9C0C499F3D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0BBA632-D0B2-48BE-BE5C-79711F819A0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895600"/>
            <a:ext cx="6705600" cy="33528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Prepared by: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Arushi</a:t>
            </a:r>
            <a:r>
              <a:rPr lang="en-US" sz="2000" dirty="0" smtClean="0">
                <a:solidFill>
                  <a:schemeClr val="tx1"/>
                </a:solidFill>
              </a:rPr>
              <a:t> Nigam</a:t>
            </a:r>
          </a:p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Framework Standard:</a:t>
            </a:r>
            <a:r>
              <a:rPr lang="en-US" sz="2000" dirty="0" smtClean="0">
                <a:solidFill>
                  <a:schemeClr val="tx1"/>
                </a:solidFill>
              </a:rPr>
              <a:t> IFRS 9 Expected Credit Loss (ECL) &amp; Dynamic Waterfall Modeling</a:t>
            </a:r>
          </a:p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Date:</a:t>
            </a:r>
            <a:r>
              <a:rPr lang="en-US" sz="2000" dirty="0" smtClean="0">
                <a:solidFill>
                  <a:schemeClr val="tx1"/>
                </a:solidFill>
              </a:rPr>
              <a:t> July 2026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6477000" cy="2133600"/>
          </a:xfrm>
        </p:spPr>
        <p:txBody>
          <a:bodyPr>
            <a:normAutofit/>
          </a:bodyPr>
          <a:lstStyle/>
          <a:p>
            <a:pPr algn="l"/>
            <a:r>
              <a:rPr lang="en-US" sz="3300" b="1" dirty="0" smtClean="0"/>
              <a:t>Asset-Backed </a:t>
            </a:r>
            <a:r>
              <a:rPr lang="en-US" sz="3300" b="1" dirty="0" err="1" smtClean="0"/>
              <a:t>Securitisation</a:t>
            </a:r>
            <a:r>
              <a:rPr lang="en-US" sz="3300" b="1" dirty="0" smtClean="0"/>
              <a:t> &amp; Credit Risk Analytics</a:t>
            </a:r>
            <a:br>
              <a:rPr lang="en-US" sz="3300" b="1" dirty="0" smtClean="0"/>
            </a:br>
            <a:r>
              <a:rPr lang="en-US" sz="1600" dirty="0" smtClean="0"/>
              <a:t>Structured Finance Performance Dashboard for Auto Loan Portfolios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320629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4636" y="1981200"/>
            <a:ext cx="6670964" cy="47244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</a:t>
            </a:r>
            <a:r>
              <a:rPr lang="en-US" sz="2000" b="1" dirty="0" smtClean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Robust Portfolio Yield:</a:t>
            </a:r>
            <a:r>
              <a:rPr lang="en-US" sz="2000" dirty="0">
                <a:solidFill>
                  <a:schemeClr val="tx1"/>
                </a:solidFill>
              </a:rPr>
              <a:t> The Weighted Average Coupon of </a:t>
            </a:r>
            <a:r>
              <a:rPr lang="en-US" sz="2000" b="1" dirty="0">
                <a:solidFill>
                  <a:schemeClr val="tx1"/>
                </a:solidFill>
              </a:rPr>
              <a:t>11.45%</a:t>
            </a:r>
            <a:r>
              <a:rPr lang="en-US" sz="2000" dirty="0">
                <a:solidFill>
                  <a:schemeClr val="tx1"/>
                </a:solidFill>
              </a:rPr>
              <a:t> provides a highly profitable yield margin to cover potential default losses.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Controlled Risk Profile:</a:t>
            </a:r>
            <a:r>
              <a:rPr lang="en-US" sz="2000" dirty="0">
                <a:solidFill>
                  <a:schemeClr val="tx1"/>
                </a:solidFill>
              </a:rPr>
              <a:t> With a 30+ DPD Delinquency Ratio of </a:t>
            </a:r>
            <a:r>
              <a:rPr lang="en-US" sz="2000" b="1" dirty="0">
                <a:solidFill>
                  <a:schemeClr val="tx1"/>
                </a:solidFill>
              </a:rPr>
              <a:t>2.45%</a:t>
            </a:r>
            <a:r>
              <a:rPr lang="en-US" sz="2000" dirty="0">
                <a:solidFill>
                  <a:schemeClr val="tx1"/>
                </a:solidFill>
              </a:rPr>
              <a:t>, the asset pool remains well within the standard target risk threshold ($&lt; 3.00\%$).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Stable Average Maturity:</a:t>
            </a:r>
            <a:r>
              <a:rPr lang="en-US" sz="2000" dirty="0">
                <a:solidFill>
                  <a:schemeClr val="tx1"/>
                </a:solidFill>
              </a:rPr>
              <a:t> A Weighted Average Maturity of </a:t>
            </a:r>
            <a:r>
              <a:rPr lang="en-US" sz="2000" b="1" dirty="0">
                <a:solidFill>
                  <a:schemeClr val="tx1"/>
                </a:solidFill>
              </a:rPr>
              <a:t>43.5 months</a:t>
            </a:r>
            <a:r>
              <a:rPr lang="en-US" sz="2000" dirty="0">
                <a:solidFill>
                  <a:schemeClr val="tx1"/>
                </a:solidFill>
              </a:rPr>
              <a:t> ensures a highly predictable amortization lifecycle for investors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76200"/>
            <a:ext cx="6989618" cy="1524000"/>
          </a:xfrm>
        </p:spPr>
        <p:txBody>
          <a:bodyPr>
            <a:normAutofit/>
          </a:bodyPr>
          <a:lstStyle/>
          <a:p>
            <a:pPr algn="l"/>
            <a:r>
              <a:rPr lang="it-IT" b="1" dirty="0"/>
              <a:t>Collateral Pool Metrics &amp; Performance </a:t>
            </a:r>
            <a:r>
              <a:rPr lang="it-IT" b="1" dirty="0" smtClean="0"/>
              <a:t>KPIs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en-US" sz="2200" dirty="0"/>
              <a:t>Baseline Credit Profile of the Auto Loan </a:t>
            </a:r>
            <a:r>
              <a:rPr lang="en-US" sz="2200" dirty="0" err="1"/>
              <a:t>Securitisation</a:t>
            </a:r>
            <a:r>
              <a:rPr lang="en-US" sz="2200" dirty="0"/>
              <a:t> Pool</a:t>
            </a:r>
            <a:r>
              <a:rPr lang="it-IT" dirty="0" smtClean="0"/>
              <a:t/>
            </a:r>
            <a:br>
              <a:rPr lang="it-IT" dirty="0" smtClean="0"/>
            </a:b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086600" y="42672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Weighted Average Maturity (WAM): </a:t>
            </a:r>
            <a:r>
              <a:rPr lang="en-US" sz="1400" dirty="0" smtClean="0">
                <a:solidFill>
                  <a:srgbClr val="C00000"/>
                </a:solidFill>
              </a:rPr>
              <a:t>43.5 Months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00455" y="30480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Weighted Average Coupon (WAC): </a:t>
            </a:r>
            <a:r>
              <a:rPr lang="en-US" sz="1400" dirty="0" smtClean="0">
                <a:solidFill>
                  <a:srgbClr val="C00000"/>
                </a:solidFill>
              </a:rPr>
              <a:t>11.45%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86600" y="16764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Active Customer Base: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 smtClean="0">
                <a:solidFill>
                  <a:srgbClr val="C00000"/>
                </a:solidFill>
              </a:rPr>
              <a:t>485 Accounts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086600" y="3810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Total Outstanding Portfolio Balance: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₹517.76M</a:t>
            </a:r>
            <a:endParaRPr lang="en-US" sz="14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86600" y="55626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Portfolio Delinquency 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2.45%</a:t>
            </a:r>
            <a:endParaRPr lang="en-US" sz="1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529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2286000"/>
            <a:ext cx="6400800" cy="34290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</a:t>
            </a:r>
            <a:r>
              <a:rPr lang="en-US" sz="2000" b="1" dirty="0" smtClean="0">
                <a:solidFill>
                  <a:schemeClr val="tx1"/>
                </a:solidFill>
              </a:rPr>
              <a:t>Points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Optimized Data Schema:</a:t>
            </a:r>
            <a:r>
              <a:rPr lang="en-US" sz="2000" dirty="0">
                <a:solidFill>
                  <a:schemeClr val="tx1"/>
                </a:solidFill>
              </a:rPr>
              <a:t> Structured using an institutional </a:t>
            </a:r>
            <a:r>
              <a:rPr lang="en-US" sz="2000" b="1" dirty="0">
                <a:solidFill>
                  <a:schemeClr val="tx1"/>
                </a:solidFill>
              </a:rPr>
              <a:t>Star Schema model</a:t>
            </a:r>
            <a:r>
              <a:rPr lang="en-US" sz="2000" dirty="0">
                <a:solidFill>
                  <a:schemeClr val="tx1"/>
                </a:solidFill>
              </a:rPr>
              <a:t> centered around a custom generated DAX calendar table (</a:t>
            </a:r>
            <a:r>
              <a:rPr lang="en-US" sz="2000" dirty="0" smtClean="0">
                <a:solidFill>
                  <a:schemeClr val="tx1"/>
                </a:solidFill>
              </a:rPr>
              <a:t>Dim Date</a:t>
            </a:r>
            <a:r>
              <a:rPr lang="en-US" sz="2000" dirty="0">
                <a:solidFill>
                  <a:schemeClr val="tx1"/>
                </a:solidFill>
              </a:rPr>
              <a:t>).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Data Model Linkages:</a:t>
            </a:r>
            <a:r>
              <a:rPr lang="en-US" sz="2000" dirty="0">
                <a:solidFill>
                  <a:schemeClr val="tx1"/>
                </a:solidFill>
              </a:rPr>
              <a:t> Established clean 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chemeClr val="tx1"/>
                </a:solidFill>
              </a:rPr>
              <a:t>one-to-many) directional relationships connecting calendar keys directly to </a:t>
            </a:r>
            <a:r>
              <a:rPr lang="en-US" sz="2000" dirty="0" smtClean="0">
                <a:solidFill>
                  <a:schemeClr val="tx1"/>
                </a:solidFill>
              </a:rPr>
              <a:t>Snapshot Date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smtClean="0">
                <a:solidFill>
                  <a:schemeClr val="tx1"/>
                </a:solidFill>
              </a:rPr>
              <a:t>Reporting Date</a:t>
            </a:r>
            <a:r>
              <a:rPr lang="en-US" sz="2000" dirty="0">
                <a:solidFill>
                  <a:schemeClr val="tx1"/>
                </a:solidFill>
              </a:rPr>
              <a:t>, and </a:t>
            </a:r>
            <a:r>
              <a:rPr lang="en-US" sz="2000" dirty="0" smtClean="0">
                <a:solidFill>
                  <a:schemeClr val="tx1"/>
                </a:solidFill>
              </a:rPr>
              <a:t>Origination Date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Granular Tracking:</a:t>
            </a:r>
            <a:r>
              <a:rPr lang="en-US" sz="2000" dirty="0">
                <a:solidFill>
                  <a:schemeClr val="tx1"/>
                </a:solidFill>
              </a:rPr>
              <a:t> Linked individual transactional updates to the master file via unique customer account keys (</a:t>
            </a:r>
            <a:r>
              <a:rPr lang="en-US" sz="2000" dirty="0" smtClean="0">
                <a:solidFill>
                  <a:schemeClr val="tx1"/>
                </a:solidFill>
              </a:rPr>
              <a:t>Loan ID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algn="l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2133600"/>
          </a:xfrm>
        </p:spPr>
        <p:txBody>
          <a:bodyPr/>
          <a:lstStyle/>
          <a:p>
            <a:pPr algn="l"/>
            <a:r>
              <a:rPr lang="en-US" b="1" dirty="0"/>
              <a:t>Data Architecture &amp; Relational Model</a:t>
            </a:r>
            <a:br>
              <a:rPr lang="en-US" b="1" dirty="0"/>
            </a:br>
            <a:r>
              <a:rPr lang="en-US" sz="2400" dirty="0"/>
              <a:t>Star Schema Construction &amp; Data Integrity Standards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162800" y="221673"/>
            <a:ext cx="1752600" cy="14547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Auto loan </a:t>
            </a:r>
            <a:r>
              <a:rPr lang="en-US" sz="1400" b="1" dirty="0" err="1" smtClean="0"/>
              <a:t>securitisation</a:t>
            </a:r>
            <a:r>
              <a:rPr lang="en-US" sz="1400" b="1" dirty="0" smtClean="0"/>
              <a:t> data</a:t>
            </a:r>
            <a:endParaRPr lang="en-US" sz="1400" b="1" dirty="0"/>
          </a:p>
        </p:txBody>
      </p:sp>
      <p:sp>
        <p:nvSpPr>
          <p:cNvPr id="10" name="Oval 9"/>
          <p:cNvSpPr/>
          <p:nvPr/>
        </p:nvSpPr>
        <p:spPr>
          <a:xfrm>
            <a:off x="7190509" y="1828799"/>
            <a:ext cx="1752600" cy="14547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dpd</a:t>
            </a:r>
            <a:r>
              <a:rPr lang="en-US" sz="1400" b="1" dirty="0" smtClean="0"/>
              <a:t> snapshot history</a:t>
            </a:r>
            <a:endParaRPr lang="en-US" sz="1400" b="1" dirty="0"/>
          </a:p>
        </p:txBody>
      </p:sp>
      <p:sp>
        <p:nvSpPr>
          <p:cNvPr id="11" name="Oval 10"/>
          <p:cNvSpPr/>
          <p:nvPr/>
        </p:nvSpPr>
        <p:spPr>
          <a:xfrm>
            <a:off x="7190509" y="3498273"/>
            <a:ext cx="1752600" cy="14547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</a:t>
            </a:r>
            <a:r>
              <a:rPr lang="en-US" sz="1400" b="1" dirty="0" smtClean="0"/>
              <a:t>tatic pool vintage data</a:t>
            </a:r>
            <a:endParaRPr lang="en-US" sz="1400" b="1" dirty="0"/>
          </a:p>
        </p:txBody>
      </p:sp>
      <p:sp>
        <p:nvSpPr>
          <p:cNvPr id="12" name="Oval 11"/>
          <p:cNvSpPr/>
          <p:nvPr/>
        </p:nvSpPr>
        <p:spPr>
          <a:xfrm>
            <a:off x="7190509" y="5105400"/>
            <a:ext cx="1752600" cy="14547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</a:t>
            </a:r>
            <a:r>
              <a:rPr lang="en-US" sz="1400" b="1" dirty="0" smtClean="0"/>
              <a:t>ynamic loss monthly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6862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926" y="2362200"/>
            <a:ext cx="6774873" cy="44958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</a:t>
            </a:r>
            <a:r>
              <a:rPr lang="en-US" sz="2000" b="1" dirty="0" smtClean="0">
                <a:solidFill>
                  <a:schemeClr val="tx1"/>
                </a:solidFill>
              </a:rPr>
              <a:t>Points 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Priority Distribution Engine:</a:t>
            </a:r>
            <a:r>
              <a:rPr lang="en-US" sz="2000" dirty="0">
                <a:solidFill>
                  <a:schemeClr val="tx1"/>
                </a:solidFill>
              </a:rPr>
              <a:t> Modeled a classic structured finance cash flow waterfall to distribute monthly borrower EMIs and prepayments.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Tranche Subordination:</a:t>
            </a:r>
            <a:r>
              <a:rPr lang="en-US" sz="2000" dirty="0">
                <a:solidFill>
                  <a:schemeClr val="tx1"/>
                </a:solidFill>
              </a:rPr>
              <a:t> Senior notes (Tranche A) receive payment priority at a baseline market yield of 6.5%, followed sequentially by Mezzanine notes (Tranche B) at 8.5%.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Strong Credit Enhancement:</a:t>
            </a:r>
            <a:r>
              <a:rPr lang="en-US" sz="2000" dirty="0">
                <a:solidFill>
                  <a:schemeClr val="tx1"/>
                </a:solidFill>
              </a:rPr>
              <a:t> The residual cash flow forms a substantial </a:t>
            </a:r>
            <a:r>
              <a:rPr lang="en-US" sz="2000" b="1" dirty="0">
                <a:solidFill>
                  <a:schemeClr val="tx1"/>
                </a:solidFill>
              </a:rPr>
              <a:t>Excess Spread</a:t>
            </a:r>
            <a:r>
              <a:rPr lang="en-US" sz="2000" dirty="0">
                <a:solidFill>
                  <a:schemeClr val="tx1"/>
                </a:solidFill>
              </a:rPr>
              <a:t> cushion, providing a robust first-loss shield for external investors.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26" y="0"/>
            <a:ext cx="6851073" cy="1524000"/>
          </a:xfrm>
        </p:spPr>
        <p:txBody>
          <a:bodyPr/>
          <a:lstStyle/>
          <a:p>
            <a:pPr algn="l"/>
            <a:r>
              <a:rPr lang="en-US" b="1" dirty="0"/>
              <a:t>Cash Flow Waterfall Structure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Subordination Mechanics &amp; Priority of 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90509" y="360218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Total Inflows: </a:t>
            </a:r>
            <a:r>
              <a:rPr lang="en-US" sz="1400" dirty="0" smtClean="0">
                <a:solidFill>
                  <a:srgbClr val="C00000"/>
                </a:solidFill>
              </a:rPr>
              <a:t>₹18.59M</a:t>
            </a:r>
            <a:endParaRPr lang="en-US" sz="14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21682" y="2050473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Tranche A: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6.50% Coupon</a:t>
            </a:r>
            <a:endParaRPr lang="en-US" sz="14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90509" y="37338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Tranche B: 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8.50% Coupon</a:t>
            </a:r>
            <a:endParaRPr lang="en-US" sz="14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39000" y="5410200"/>
            <a:ext cx="175260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Excess Spread: </a:t>
            </a:r>
            <a:r>
              <a:rPr lang="en-US" sz="1400" dirty="0" smtClean="0">
                <a:solidFill>
                  <a:srgbClr val="C00000"/>
                </a:solidFill>
              </a:rPr>
              <a:t>Retained</a:t>
            </a:r>
            <a:endParaRPr lang="en-US" sz="14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339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7708" y="2286000"/>
            <a:ext cx="6754091" cy="4572000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</a:t>
            </a:r>
            <a:r>
              <a:rPr lang="en-US" sz="2000" b="1" dirty="0" smtClean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Transition Probability Mapping:</a:t>
            </a:r>
            <a:r>
              <a:rPr lang="en-US" sz="2000" dirty="0">
                <a:solidFill>
                  <a:schemeClr val="tx1"/>
                </a:solidFill>
              </a:rPr>
              <a:t> Implemented a conditional matrix </a:t>
            </a:r>
            <a:r>
              <a:rPr lang="en-US" sz="2000" dirty="0" err="1">
                <a:solidFill>
                  <a:schemeClr val="tx1"/>
                </a:solidFill>
              </a:rPr>
              <a:t>heatmap</a:t>
            </a:r>
            <a:r>
              <a:rPr lang="en-US" sz="2000" dirty="0">
                <a:solidFill>
                  <a:schemeClr val="tx1"/>
                </a:solidFill>
              </a:rPr>
              <a:t> tracking how accounts migrate month-over-month from "Current" status to deep defaults.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Early Detection Framework:</a:t>
            </a:r>
            <a:r>
              <a:rPr lang="en-US" sz="2000" dirty="0">
                <a:solidFill>
                  <a:schemeClr val="tx1"/>
                </a:solidFill>
              </a:rPr>
              <a:t> Isolates accounts shifting into the 1–29 DPD and 30–59 DPD buckets to flag high-risk accounts before they roll over.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Cure Rate Visibility:</a:t>
            </a:r>
            <a:r>
              <a:rPr lang="en-US" sz="2000" dirty="0">
                <a:solidFill>
                  <a:schemeClr val="tx1"/>
                </a:solidFill>
              </a:rPr>
              <a:t> Enables collections management to optimize operational resources by identifying exactly which segments show strong recovery behaviors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927"/>
            <a:ext cx="6705600" cy="1440873"/>
          </a:xfrm>
        </p:spPr>
        <p:txBody>
          <a:bodyPr/>
          <a:lstStyle/>
          <a:p>
            <a:pPr algn="l"/>
            <a:r>
              <a:rPr lang="en-US" b="1" dirty="0"/>
              <a:t>Advanced Delinquency Analysis</a:t>
            </a:r>
            <a:br>
              <a:rPr lang="en-US" b="1" dirty="0"/>
            </a:br>
            <a:r>
              <a:rPr lang="en-US" sz="2400" dirty="0"/>
              <a:t>Portfolio Decay Matrix &amp; Credit Status Transitions</a:t>
            </a:r>
          </a:p>
        </p:txBody>
      </p:sp>
      <p:sp>
        <p:nvSpPr>
          <p:cNvPr id="4" name="Flowchart: Predefined Process 3"/>
          <p:cNvSpPr/>
          <p:nvPr/>
        </p:nvSpPr>
        <p:spPr>
          <a:xfrm>
            <a:off x="7315200" y="457200"/>
            <a:ext cx="1600200" cy="129540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Tracking Tool: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DPD Matrix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5" name="Flowchart: Predefined Process 4"/>
          <p:cNvSpPr/>
          <p:nvPr/>
        </p:nvSpPr>
        <p:spPr>
          <a:xfrm>
            <a:off x="7297882" y="2057400"/>
            <a:ext cx="1600200" cy="129540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Current Target: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&lt; 3.00%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Flowchart: Predefined Process 5"/>
          <p:cNvSpPr/>
          <p:nvPr/>
        </p:nvSpPr>
        <p:spPr>
          <a:xfrm>
            <a:off x="7315200" y="3657600"/>
            <a:ext cx="1600200" cy="129540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Early Warning: </a:t>
            </a:r>
            <a:r>
              <a:rPr lang="en-US" sz="1400" dirty="0" smtClean="0">
                <a:solidFill>
                  <a:srgbClr val="C00000"/>
                </a:solidFill>
              </a:rPr>
              <a:t>Active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Flowchart: Predefined Process 6"/>
          <p:cNvSpPr/>
          <p:nvPr/>
        </p:nvSpPr>
        <p:spPr>
          <a:xfrm>
            <a:off x="7297882" y="5257800"/>
            <a:ext cx="1600200" cy="129540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Default Cap: </a:t>
            </a:r>
            <a:r>
              <a:rPr lang="en-US" sz="1400" dirty="0" smtClean="0">
                <a:solidFill>
                  <a:srgbClr val="C00000"/>
                </a:solidFill>
              </a:rPr>
              <a:t>90+ Days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44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-20782" y="2286000"/>
            <a:ext cx="6802582" cy="45720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(Left Side):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Cohort Isolation:</a:t>
            </a:r>
            <a:r>
              <a:rPr lang="en-US" sz="2000" dirty="0">
                <a:solidFill>
                  <a:schemeClr val="tx1"/>
                </a:solidFill>
              </a:rPr>
              <a:t> Segregates the auto loan asset pool into distinct static calendar quarters to track long-term performance independently.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Underwriting Quality Audits:</a:t>
            </a:r>
            <a:r>
              <a:rPr lang="en-US" sz="2000" dirty="0">
                <a:solidFill>
                  <a:schemeClr val="tx1"/>
                </a:solidFill>
              </a:rPr>
              <a:t> Maps cumulative net losses against Months on Book (MOB) to reveal shifts in original lending standards across generations.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Risk Signal Identification:</a:t>
            </a:r>
            <a:r>
              <a:rPr lang="en-US" sz="2000" dirty="0">
                <a:solidFill>
                  <a:schemeClr val="tx1"/>
                </a:solidFill>
              </a:rPr>
              <a:t> Provides clear visual flags if a specific vintage curve climbs faster than past baselines, signaling an urgent need for tighter credit box criteria.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6928" y="6927"/>
            <a:ext cx="6864927" cy="1440873"/>
          </a:xfrm>
        </p:spPr>
        <p:txBody>
          <a:bodyPr/>
          <a:lstStyle/>
          <a:p>
            <a:pPr algn="l"/>
            <a:r>
              <a:rPr lang="en-US" b="1" dirty="0"/>
              <a:t>Static Pool Vintage Loss </a:t>
            </a:r>
            <a:r>
              <a:rPr lang="en-US" b="1" dirty="0" smtClean="0"/>
              <a:t>Curves</a:t>
            </a:r>
            <a:br>
              <a:rPr lang="en-US" b="1" dirty="0" smtClean="0"/>
            </a:br>
            <a:r>
              <a:rPr lang="en-US" sz="2000" dirty="0"/>
              <a:t>Cumulative Credit Degradation by Underwriting Cohort</a:t>
            </a:r>
            <a:endParaRPr lang="en-US" sz="2000" b="1" dirty="0"/>
          </a:p>
        </p:txBody>
      </p:sp>
      <p:sp>
        <p:nvSpPr>
          <p:cNvPr id="4" name="Flowchart: Terminator 3"/>
          <p:cNvSpPr/>
          <p:nvPr/>
        </p:nvSpPr>
        <p:spPr>
          <a:xfrm>
            <a:off x="7162800" y="685800"/>
            <a:ext cx="1828800" cy="7620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Timeline: 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Months on Book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5" name="Flowchart: Terminator 4"/>
          <p:cNvSpPr/>
          <p:nvPr/>
        </p:nvSpPr>
        <p:spPr>
          <a:xfrm>
            <a:off x="7135091" y="2133600"/>
            <a:ext cx="1828800" cy="7620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Metric: 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Cum. Net Loss %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Flowchart: Terminator 5"/>
          <p:cNvSpPr/>
          <p:nvPr/>
        </p:nvSpPr>
        <p:spPr>
          <a:xfrm>
            <a:off x="7135091" y="3657600"/>
            <a:ext cx="1828800" cy="7620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Segment: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Quarterly Pools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Flowchart: Terminator 6"/>
          <p:cNvSpPr/>
          <p:nvPr/>
        </p:nvSpPr>
        <p:spPr>
          <a:xfrm>
            <a:off x="7162800" y="5105400"/>
            <a:ext cx="1828800" cy="7620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Horizon: 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36+ Months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95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2286000"/>
            <a:ext cx="6781800" cy="45720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</a:t>
            </a:r>
            <a:r>
              <a:rPr lang="en-US" sz="2000" b="1" dirty="0" smtClean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Interactive Simulation Sliders:</a:t>
            </a:r>
            <a:r>
              <a:rPr lang="en-US" sz="2000" dirty="0">
                <a:solidFill>
                  <a:schemeClr val="tx1"/>
                </a:solidFill>
              </a:rPr>
              <a:t> Constructed real-time interactive numeric parameters to simulate varying degrees of macroeconomic distress.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Capital Volatility Modeling:</a:t>
            </a:r>
            <a:r>
              <a:rPr lang="en-US" sz="2000" dirty="0">
                <a:solidFill>
                  <a:schemeClr val="tx1"/>
                </a:solidFill>
              </a:rPr>
              <a:t> Evaluates the concurrent stress impacts of soaring default rates alongside spikes in Prepayment Rates (CPR).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Waterfall Integrity Verification:</a:t>
            </a:r>
            <a:r>
              <a:rPr lang="en-US" sz="2000" dirty="0">
                <a:solidFill>
                  <a:schemeClr val="tx1"/>
                </a:solidFill>
              </a:rPr>
              <a:t> Dynamically updates portfolio metrics to instantly calculate when losses exceed the excess spread protection tier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708" y="0"/>
            <a:ext cx="6830291" cy="16002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Dynamic Macro Stress Testing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Interactive </a:t>
            </a:r>
            <a:r>
              <a:rPr lang="en-US" sz="2400" dirty="0"/>
              <a:t>'What-If' Parameter Scenario Simulations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Pentagon 3"/>
          <p:cNvSpPr/>
          <p:nvPr/>
        </p:nvSpPr>
        <p:spPr>
          <a:xfrm>
            <a:off x="7086600" y="457200"/>
            <a:ext cx="1828800" cy="914400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Default Range: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0% - 10%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7086600" y="1905000"/>
            <a:ext cx="1828800" cy="914400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Prepay Range</a:t>
            </a:r>
            <a:r>
              <a:rPr lang="en-US" sz="1400" dirty="0" smtClean="0"/>
              <a:t>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0% - 30%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7100455" y="3352800"/>
            <a:ext cx="1828800" cy="914400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Output: 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Stressed Loss Amount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7121236" y="4876800"/>
            <a:ext cx="1828800" cy="914400"/>
          </a:xfrm>
          <a:prstGeom prst="homePlat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Baseline Default: </a:t>
            </a:r>
            <a:r>
              <a:rPr lang="en-US" sz="1400" dirty="0" smtClean="0">
                <a:solidFill>
                  <a:srgbClr val="C00000"/>
                </a:solidFill>
              </a:rPr>
              <a:t>1.00%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00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2362200"/>
            <a:ext cx="6858000" cy="44196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</a:t>
            </a:r>
            <a:r>
              <a:rPr lang="en-US" sz="2000" b="1" dirty="0" smtClean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Enforced Role Access:</a:t>
            </a:r>
            <a:r>
              <a:rPr lang="en-US" sz="2000" dirty="0">
                <a:solidFill>
                  <a:schemeClr val="tx1"/>
                </a:solidFill>
              </a:rPr>
              <a:t> Configured DAX-driven security roles directly inside the data model layer to filter structural rows automatically based on employee profile keys.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Regional Operational Partitioning:</a:t>
            </a:r>
            <a:r>
              <a:rPr lang="en-US" sz="2000" dirty="0">
                <a:solidFill>
                  <a:schemeClr val="tx1"/>
                </a:solidFill>
              </a:rPr>
              <a:t> Regional risk desks are restricted to their specific territory (e.g., [Region] = "West"), keeping local data separate.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Executive Oversight:</a:t>
            </a:r>
            <a:r>
              <a:rPr lang="en-US" sz="2000" dirty="0">
                <a:solidFill>
                  <a:schemeClr val="tx1"/>
                </a:solidFill>
              </a:rPr>
              <a:t> Grants unrestricted viewing privileges to senior management, providing full portfolio aggregation for macro reporting dashboards.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6934200" cy="18288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Governance &amp; Data Security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Role-Based Access Controls &amp; Regulatory Controls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Flowchart: Preparation 3"/>
          <p:cNvSpPr/>
          <p:nvPr/>
        </p:nvSpPr>
        <p:spPr>
          <a:xfrm>
            <a:off x="7162800" y="526473"/>
            <a:ext cx="1752600" cy="1219200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Framework: </a:t>
            </a:r>
            <a:r>
              <a:rPr lang="en-US" sz="1400" dirty="0" smtClean="0">
                <a:solidFill>
                  <a:srgbClr val="C00000"/>
                </a:solidFill>
              </a:rPr>
              <a:t>Row-Level Security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5" name="Flowchart: Preparation 4"/>
          <p:cNvSpPr/>
          <p:nvPr/>
        </p:nvSpPr>
        <p:spPr>
          <a:xfrm>
            <a:off x="7152409" y="1981200"/>
            <a:ext cx="1752600" cy="1219200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 smtClean="0"/>
              <a:t>Regional</a:t>
            </a:r>
          </a:p>
          <a:p>
            <a:pPr algn="ctr"/>
            <a:r>
              <a:rPr lang="en-US" sz="1300" b="1" dirty="0" smtClean="0"/>
              <a:t>Filter:</a:t>
            </a:r>
          </a:p>
          <a:p>
            <a:pPr algn="ctr"/>
            <a:r>
              <a:rPr lang="en-US" sz="1300" dirty="0" smtClean="0">
                <a:solidFill>
                  <a:srgbClr val="C00000"/>
                </a:solidFill>
              </a:rPr>
              <a:t> DAX Controlled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6" name="Flowchart: Preparation 5"/>
          <p:cNvSpPr/>
          <p:nvPr/>
        </p:nvSpPr>
        <p:spPr>
          <a:xfrm>
            <a:off x="7152409" y="3505200"/>
            <a:ext cx="1752600" cy="1219200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Executive Access: </a:t>
            </a:r>
            <a:r>
              <a:rPr lang="en-US" sz="1300" dirty="0" smtClean="0">
                <a:solidFill>
                  <a:srgbClr val="C00000"/>
                </a:solidFill>
              </a:rPr>
              <a:t>Unrestricted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7" name="Flowchart: Preparation 6"/>
          <p:cNvSpPr/>
          <p:nvPr/>
        </p:nvSpPr>
        <p:spPr>
          <a:xfrm>
            <a:off x="7162800" y="4953000"/>
            <a:ext cx="1752600" cy="1219200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Standard: </a:t>
            </a:r>
            <a:r>
              <a:rPr lang="en-US" sz="1400" dirty="0" smtClean="0">
                <a:solidFill>
                  <a:srgbClr val="C00000"/>
                </a:solidFill>
              </a:rPr>
              <a:t>Data Privacy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61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2362200"/>
            <a:ext cx="6781800" cy="44958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</a:t>
            </a:r>
            <a:r>
              <a:rPr lang="en-US" sz="2000" b="1" dirty="0" smtClean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The 2008 Financial Crisis:</a:t>
            </a:r>
            <a:r>
              <a:rPr lang="en-US" sz="2000" dirty="0">
                <a:solidFill>
                  <a:schemeClr val="tx1"/>
                </a:solidFill>
              </a:rPr>
              <a:t> Driven by opaque pooling methods and inadequate underlying vintage degradation metrics that masked deep credit rot.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The 2018 IL&amp;FS Liquidity Crisis:</a:t>
            </a:r>
            <a:r>
              <a:rPr lang="en-US" sz="2000" dirty="0">
                <a:solidFill>
                  <a:schemeClr val="tx1"/>
                </a:solidFill>
              </a:rPr>
              <a:t> Triggered by severe asset-liability mismatches when short-term institutional instruments funded illiquid long-term underlying structures.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Strategic Solution:</a:t>
            </a:r>
            <a:r>
              <a:rPr lang="en-US" sz="2000" dirty="0">
                <a:solidFill>
                  <a:schemeClr val="tx1"/>
                </a:solidFill>
              </a:rPr>
              <a:t> Deploying granular transaction tracking dashboards ensures continuous liquidity oversight to avoid repeating past systemic defaults.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17526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Real-World Systemic Risk Lessons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Historical </a:t>
            </a:r>
            <a:r>
              <a:rPr lang="en-US" sz="2400" dirty="0"/>
              <a:t>Case Studies in Structured Finance </a:t>
            </a:r>
            <a:r>
              <a:rPr lang="en-US" sz="2400" dirty="0" smtClean="0"/>
              <a:t>Operations</a:t>
            </a:r>
            <a:endParaRPr lang="en-US" sz="2400" dirty="0"/>
          </a:p>
        </p:txBody>
      </p:sp>
      <p:sp>
        <p:nvSpPr>
          <p:cNvPr id="4" name="Flowchart: Internal Storage 3"/>
          <p:cNvSpPr/>
          <p:nvPr/>
        </p:nvSpPr>
        <p:spPr>
          <a:xfrm>
            <a:off x="7239000" y="457200"/>
            <a:ext cx="1600200" cy="129540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2008 GFC: </a:t>
            </a:r>
            <a:r>
              <a:rPr lang="en-US" sz="1400" dirty="0" smtClean="0">
                <a:solidFill>
                  <a:srgbClr val="C00000"/>
                </a:solidFill>
              </a:rPr>
              <a:t>Subprime Opaque Pools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Flowchart: Internal Storage 5"/>
          <p:cNvSpPr/>
          <p:nvPr/>
        </p:nvSpPr>
        <p:spPr>
          <a:xfrm>
            <a:off x="7239000" y="1870364"/>
            <a:ext cx="1600200" cy="129540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2018 IL&amp;FS</a:t>
            </a:r>
            <a:r>
              <a:rPr lang="en-US" sz="1400" dirty="0" smtClean="0"/>
              <a:t>: </a:t>
            </a:r>
            <a:r>
              <a:rPr lang="en-US" sz="1400" dirty="0" smtClean="0">
                <a:solidFill>
                  <a:srgbClr val="C00000"/>
                </a:solidFill>
              </a:rPr>
              <a:t>Maturity Mismatch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Flowchart: Internal Storage 6"/>
          <p:cNvSpPr/>
          <p:nvPr/>
        </p:nvSpPr>
        <p:spPr>
          <a:xfrm>
            <a:off x="7239000" y="3429000"/>
            <a:ext cx="1600200" cy="129540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Risk Focus: </a:t>
            </a:r>
            <a:r>
              <a:rPr lang="en-US" sz="1400" dirty="0" smtClean="0">
                <a:solidFill>
                  <a:srgbClr val="C00000"/>
                </a:solidFill>
              </a:rPr>
              <a:t>Liquidity Squeeze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8" name="Flowchart: Internal Storage 7"/>
          <p:cNvSpPr/>
          <p:nvPr/>
        </p:nvSpPr>
        <p:spPr>
          <a:xfrm>
            <a:off x="7266709" y="4953000"/>
            <a:ext cx="1600200" cy="129540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Solution: </a:t>
            </a:r>
            <a:r>
              <a:rPr lang="en-US" sz="1400" dirty="0" smtClean="0">
                <a:solidFill>
                  <a:srgbClr val="C00000"/>
                </a:solidFill>
              </a:rPr>
              <a:t>Dashboard Transparency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94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2362200"/>
            <a:ext cx="6781800" cy="44958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Bullet Points </a:t>
            </a:r>
            <a:r>
              <a:rPr lang="en-US" sz="2000" b="1" dirty="0" smtClean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Refine Underwriting Parameters:</a:t>
            </a:r>
            <a:r>
              <a:rPr lang="en-US" sz="2000" dirty="0">
                <a:solidFill>
                  <a:schemeClr val="tx1"/>
                </a:solidFill>
              </a:rPr>
              <a:t> Tighten loan-to-value (LTV) limits on higher-risk borrower profiles to curb early roll-rate degradation trends.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Maintain Structural Margins:</a:t>
            </a:r>
            <a:r>
              <a:rPr lang="en-US" sz="2000" dirty="0">
                <a:solidFill>
                  <a:schemeClr val="tx1"/>
                </a:solidFill>
              </a:rPr>
              <a:t> Balance pool yields carefully against funding costs to defend the excess spread required to safeguard senior notes.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Institutional Stress Cadence:</a:t>
            </a:r>
            <a:r>
              <a:rPr lang="en-US" sz="2000" dirty="0">
                <a:solidFill>
                  <a:schemeClr val="tx1"/>
                </a:solidFill>
              </a:rPr>
              <a:t> Institutionalize monthly reviews using the dashboard simulation sliders to actively manage capital reserve guidelines as macro cycles shift.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6781800" cy="1752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Strategic Recommendations</a:t>
            </a:r>
            <a:r>
              <a:rPr lang="en-US" dirty="0"/>
              <a:t/>
            </a:r>
            <a:br>
              <a:rPr lang="en-US" dirty="0"/>
            </a:br>
            <a:r>
              <a:rPr lang="en-US" sz="2700" dirty="0" smtClean="0"/>
              <a:t>Portfolio </a:t>
            </a:r>
            <a:r>
              <a:rPr lang="en-US" sz="2700" dirty="0"/>
              <a:t>Optimization and Credit Risk Directives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7162800" y="443345"/>
            <a:ext cx="1676400" cy="1143000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Action 1: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Tighter Credit Box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8" name="Round Diagonal Corner Rectangle 7"/>
          <p:cNvSpPr/>
          <p:nvPr/>
        </p:nvSpPr>
        <p:spPr>
          <a:xfrm>
            <a:off x="7225145" y="1981200"/>
            <a:ext cx="1676400" cy="1143000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Action 2: 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Defend Excess Spread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9" name="Round Diagonal Corner Rectangle 8"/>
          <p:cNvSpPr/>
          <p:nvPr/>
        </p:nvSpPr>
        <p:spPr>
          <a:xfrm>
            <a:off x="7218218" y="3505200"/>
            <a:ext cx="1676400" cy="1143000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Action 3: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 Monthly Stress Tests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7183582" y="5105400"/>
            <a:ext cx="1676400" cy="1143000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Status:</a:t>
            </a:r>
          </a:p>
          <a:p>
            <a:pPr algn="ctr"/>
            <a:r>
              <a:rPr lang="en-US" sz="1400" dirty="0" smtClean="0">
                <a:solidFill>
                  <a:srgbClr val="00B050"/>
                </a:solidFill>
              </a:rPr>
              <a:t> Project Complete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18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113</TotalTime>
  <Words>920</Words>
  <Application>Microsoft Office PowerPoint</Application>
  <PresentationFormat>On-screen Show (4:3)</PresentationFormat>
  <Paragraphs>106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Composite</vt:lpstr>
      <vt:lpstr>Asset-Backed Securitisation &amp; Credit Risk Analytics Structured Finance Performance Dashboard for Auto Loan Portfolios</vt:lpstr>
      <vt:lpstr>Collateral Pool Metrics &amp; Performance KPIs Baseline Credit Profile of the Auto Loan Securitisation Pool </vt:lpstr>
      <vt:lpstr>Data Architecture &amp; Relational Model Star Schema Construction &amp; Data Integrity Standards </vt:lpstr>
      <vt:lpstr>Cash Flow Waterfall Structure Subordination Mechanics &amp; Priority of Payments</vt:lpstr>
      <vt:lpstr>Advanced Delinquency Analysis Portfolio Decay Matrix &amp; Credit Status Transitions</vt:lpstr>
      <vt:lpstr>Static Pool Vintage Loss Curves Cumulative Credit Degradation by Underwriting Cohort</vt:lpstr>
      <vt:lpstr>Dynamic Macro Stress Testing Interactive 'What-If' Parameter Scenario Simulations </vt:lpstr>
      <vt:lpstr>Governance &amp; Data Security Role-Based Access Controls &amp; Regulatory Controls </vt:lpstr>
      <vt:lpstr>Real-World Systemic Risk Lessons Historical Case Studies in Structured Finance Operations</vt:lpstr>
      <vt:lpstr>Strategic Recommendations Portfolio Optimization and Credit Risk Directives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Asset-Backed Securitisation &amp; Credit Risk Analytics Structured Finance Performance Dashboard for Auto Loan Portfolios</dc:title>
  <dc:creator>admin</dc:creator>
  <cp:lastModifiedBy>admin</cp:lastModifiedBy>
  <cp:revision>9</cp:revision>
  <dcterms:created xsi:type="dcterms:W3CDTF">2026-07-14T13:52:10Z</dcterms:created>
  <dcterms:modified xsi:type="dcterms:W3CDTF">2026-07-14T15:45:45Z</dcterms:modified>
</cp:coreProperties>
</file>